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50" d="100"/>
          <a:sy n="50" d="100"/>
        </p:scale>
        <p:origin x="29" y="70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ushiii3103/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3679" y="3526404"/>
            <a:ext cx="8027766" cy="861497"/>
          </a:xfrm>
        </p:spPr>
        <p:txBody>
          <a:bodyPr vert="horz" lIns="91440" tIns="45720" rIns="91440" bIns="45720" rtlCol="0" anchor="t">
            <a:normAutofit/>
          </a:bodyPr>
          <a:lstStyle/>
          <a:p>
            <a:r>
              <a:rPr lang="en-US" dirty="0">
                <a:solidFill>
                  <a:schemeClr val="tx1"/>
                </a:solidFill>
              </a:rPr>
              <a:t>NAME: </a:t>
            </a:r>
            <a:r>
              <a:rPr lang="en-US" b="0" dirty="0">
                <a:solidFill>
                  <a:schemeClr val="tx1"/>
                </a:solidFill>
              </a:rPr>
              <a:t>SUSHIL KUMAR S</a:t>
            </a:r>
          </a:p>
          <a:p>
            <a:r>
              <a:rPr lang="en-US" dirty="0">
                <a:solidFill>
                  <a:schemeClr val="tx1"/>
                </a:solidFill>
              </a:rPr>
              <a:t>COLLEGE NAME: </a:t>
            </a:r>
            <a:r>
              <a:rPr lang="en-US" b="0" dirty="0">
                <a:solidFill>
                  <a:schemeClr val="tx1"/>
                </a:solidFill>
              </a:rPr>
              <a:t>S.R.M UNIVERSITY - K.T.R Campus </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397586"/>
            <a:ext cx="8598672" cy="1031414"/>
          </a:xfrm>
        </p:spPr>
        <p:txBody>
          <a:bodyPr>
            <a:noAutofit/>
          </a:bodyPr>
          <a:lstStyle/>
          <a:p>
            <a:r>
              <a:rPr lang="en-GB" sz="3200" b="1" dirty="0"/>
              <a:t>Project Title - </a:t>
            </a:r>
            <a:r>
              <a:rPr lang="en-IN" sz="3200" b="1"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33679" y="4460414"/>
            <a:ext cx="6096329" cy="646331"/>
          </a:xfrm>
          <a:prstGeom prst="rect">
            <a:avLst/>
          </a:prstGeom>
          <a:noFill/>
        </p:spPr>
        <p:txBody>
          <a:bodyPr wrap="square" rtlCol="0">
            <a:spAutoFit/>
          </a:bodyPr>
          <a:lstStyle/>
          <a:p>
            <a:r>
              <a:rPr lang="en-US" b="1" dirty="0"/>
              <a:t>AICTE STU ID : STU687a7e1023c951752858128</a:t>
            </a:r>
            <a:r>
              <a:rPr lang="en-US" dirty="0"/>
              <a:t> </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59080" y="1554480"/>
            <a:ext cx="8580120" cy="4917440"/>
          </a:xfrm>
        </p:spPr>
        <p:txBody>
          <a:bodyPr vert="horz" lIns="91440" tIns="45720" rIns="91440" bIns="45720" rtlCol="0" anchor="t">
            <a:normAutofit fontScale="92500"/>
          </a:bodyPr>
          <a:lstStyle/>
          <a:p>
            <a:pPr marL="0" indent="0" algn="just">
              <a:lnSpc>
                <a:spcPct val="10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839200" y="265651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514082"/>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50C43D7-52E1-4A21-6600-F03568B0075D}"/>
              </a:ext>
            </a:extLst>
          </p:cNvPr>
          <p:cNvSpPr txBox="1"/>
          <p:nvPr/>
        </p:nvSpPr>
        <p:spPr>
          <a:xfrm>
            <a:off x="264477" y="1573381"/>
            <a:ext cx="10815003" cy="4770537"/>
          </a:xfrm>
          <a:prstGeom prst="rect">
            <a:avLst/>
          </a:prstGeom>
          <a:noFill/>
        </p:spPr>
        <p:txBody>
          <a:bodyPr wrap="square" rtlCol="0">
            <a:spAutoFit/>
          </a:bodyPr>
          <a:lstStyle/>
          <a:p>
            <a:r>
              <a:rPr lang="en-IN" sz="2200" dirty="0"/>
              <a:t>Seasonal Agriculture Performance Analysis is a data analytics project focused on understanding how agricultural performance varies across different seasons, geographical regions, and farming conditions. The project involves </a:t>
            </a:r>
            <a:r>
              <a:rPr lang="en-IN" sz="2200" dirty="0" err="1"/>
              <a:t>analyzing</a:t>
            </a:r>
            <a:r>
              <a:rPr lang="en-IN" sz="2200" dirty="0"/>
              <a:t> data related to crop production, environmental conditions, farming practices, resource utilization, and economic </a:t>
            </a:r>
            <a:r>
              <a:rPr lang="en-IN" sz="2200" dirty="0" err="1"/>
              <a:t>performance.The</a:t>
            </a:r>
            <a:r>
              <a:rPr lang="en-IN" sz="2200" dirty="0"/>
              <a:t> project includes data cleaning and preprocessing, exploratory data analysis, statistical analysis, and data visualization to identify important seasonal patterns, trends, relationships, and variations. The analysis compares agricultural performance across different seasons and examines how environmental and resource-related factors may influence agricultural </a:t>
            </a:r>
            <a:r>
              <a:rPr lang="en-IN" sz="2200" dirty="0" err="1"/>
              <a:t>outcomes.The</a:t>
            </a:r>
            <a:r>
              <a:rPr lang="en-IN" sz="2200" dirty="0"/>
              <a:t> key findings from the analysis are used to generate evidence-based insights and recommendations that can support better understanding of seasonal agricultural patterns and contribute to more informed agricultural planning and decision-making.</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9443721" cy="3990023"/>
          </a:xfrm>
        </p:spPr>
        <p:txBody>
          <a:bodyPr>
            <a:normAutofit fontScale="70000" lnSpcReduction="20000"/>
          </a:bodyPr>
          <a:lstStyle/>
          <a:p>
            <a:pPr lvl="0"/>
            <a:r>
              <a:rPr lang="en-IN" sz="3600" b="1" dirty="0"/>
              <a:t>Farmers</a:t>
            </a:r>
            <a:r>
              <a:rPr lang="en-IN" sz="3600" dirty="0"/>
              <a:t> – to understand seasonal crop performance and resource usage. </a:t>
            </a:r>
          </a:p>
          <a:p>
            <a:pPr lvl="0"/>
            <a:r>
              <a:rPr lang="en-IN" sz="3600" b="1" dirty="0"/>
              <a:t>Agricultural Departments &amp; Government Agencies</a:t>
            </a:r>
            <a:r>
              <a:rPr lang="en-IN" sz="3600" dirty="0"/>
              <a:t> – for agricultural planning and policy decisions. </a:t>
            </a:r>
          </a:p>
          <a:p>
            <a:pPr lvl="0"/>
            <a:r>
              <a:rPr lang="en-IN" sz="3600" b="1" dirty="0"/>
              <a:t>Agricultural Planners &amp; Consultants</a:t>
            </a:r>
            <a:r>
              <a:rPr lang="en-IN" sz="3600" dirty="0"/>
              <a:t> – to identify seasonal trends and improve farming strategies. </a:t>
            </a:r>
          </a:p>
          <a:p>
            <a:pPr lvl="0"/>
            <a:r>
              <a:rPr lang="en-IN" sz="3600" b="1" dirty="0"/>
              <a:t>Agribusinesses &amp; Agricultural Organizations</a:t>
            </a:r>
            <a:r>
              <a:rPr lang="en-IN" sz="3600" dirty="0"/>
              <a:t> – to </a:t>
            </a:r>
            <a:r>
              <a:rPr lang="en-IN" sz="3600" dirty="0" err="1"/>
              <a:t>analyze</a:t>
            </a:r>
            <a:r>
              <a:rPr lang="en-IN" sz="3600" dirty="0"/>
              <a:t> production and economic performance. </a:t>
            </a:r>
          </a:p>
          <a:p>
            <a:pPr lvl="0"/>
            <a:r>
              <a:rPr lang="en-IN" sz="3600" b="1" dirty="0"/>
              <a:t>Agricultural Researchers</a:t>
            </a:r>
            <a:r>
              <a:rPr lang="en-IN" sz="3600" dirty="0"/>
              <a:t> – to study relationships between environmental conditions and agricultural outcomes.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89778" y="1551816"/>
            <a:ext cx="9027702" cy="3370704"/>
          </a:xfrm>
        </p:spPr>
        <p:txBody>
          <a:bodyPr>
            <a:normAutofit fontScale="85000" lnSpcReduction="20000"/>
          </a:bodyPr>
          <a:lstStyle/>
          <a:p>
            <a:pPr lvl="0"/>
            <a:r>
              <a:rPr lang="en-IN" sz="3000" b="1" dirty="0"/>
              <a:t>Python</a:t>
            </a:r>
            <a:r>
              <a:rPr lang="en-IN" sz="3000" dirty="0"/>
              <a:t> – Programming and data analysis </a:t>
            </a:r>
          </a:p>
          <a:p>
            <a:pPr lvl="0"/>
            <a:r>
              <a:rPr lang="en-IN" sz="3000" b="1" dirty="0"/>
              <a:t>Pandas</a:t>
            </a:r>
            <a:r>
              <a:rPr lang="en-IN" sz="3000" dirty="0"/>
              <a:t> – Data cleaning, manipulation, and analysis </a:t>
            </a:r>
          </a:p>
          <a:p>
            <a:pPr lvl="0"/>
            <a:r>
              <a:rPr lang="en-IN" sz="3000" b="1" dirty="0"/>
              <a:t>NumPy</a:t>
            </a:r>
            <a:r>
              <a:rPr lang="en-IN" sz="3000" dirty="0"/>
              <a:t> – Numerical computations </a:t>
            </a:r>
          </a:p>
          <a:p>
            <a:pPr lvl="0"/>
            <a:r>
              <a:rPr lang="en-IN" sz="3000" b="1" dirty="0"/>
              <a:t>Matplotlib</a:t>
            </a:r>
            <a:r>
              <a:rPr lang="en-IN" sz="3000" dirty="0"/>
              <a:t> – Data visualization </a:t>
            </a:r>
          </a:p>
          <a:p>
            <a:pPr lvl="0"/>
            <a:r>
              <a:rPr lang="en-IN" sz="3000" b="1" dirty="0"/>
              <a:t>Seaborn</a:t>
            </a:r>
            <a:r>
              <a:rPr lang="en-IN" sz="3000" dirty="0"/>
              <a:t> – Statistical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201C8EC7-64FA-336C-332C-B1FB60CC545E}"/>
              </a:ext>
            </a:extLst>
          </p:cNvPr>
          <p:cNvPicPr>
            <a:picLocks noChangeAspect="1"/>
          </p:cNvPicPr>
          <p:nvPr/>
        </p:nvPicPr>
        <p:blipFill>
          <a:blip r:embed="rId3"/>
          <a:stretch>
            <a:fillRect/>
          </a:stretch>
        </p:blipFill>
        <p:spPr>
          <a:xfrm>
            <a:off x="205892" y="1431693"/>
            <a:ext cx="5524347" cy="3956679"/>
          </a:xfrm>
          <a:prstGeom prst="rect">
            <a:avLst/>
          </a:prstGeom>
        </p:spPr>
      </p:pic>
      <p:pic>
        <p:nvPicPr>
          <p:cNvPr id="9" name="Picture 8">
            <a:extLst>
              <a:ext uri="{FF2B5EF4-FFF2-40B4-BE49-F238E27FC236}">
                <a16:creationId xmlns:a16="http://schemas.microsoft.com/office/drawing/2014/main" id="{8C8D7E4F-1087-1563-199A-58BB1E02851B}"/>
              </a:ext>
            </a:extLst>
          </p:cNvPr>
          <p:cNvPicPr>
            <a:picLocks noChangeAspect="1"/>
          </p:cNvPicPr>
          <p:nvPr/>
        </p:nvPicPr>
        <p:blipFill>
          <a:blip r:embed="rId4"/>
          <a:srcRect r="11600"/>
          <a:stretch>
            <a:fillRect/>
          </a:stretch>
        </p:blipFill>
        <p:spPr>
          <a:xfrm>
            <a:off x="6096000" y="1443857"/>
            <a:ext cx="5775017" cy="3970286"/>
          </a:xfrm>
          <a:prstGeom prst="rect">
            <a:avLst/>
          </a:prstGeom>
        </p:spPr>
      </p:pic>
      <p:sp>
        <p:nvSpPr>
          <p:cNvPr id="11" name="TextBox 10">
            <a:extLst>
              <a:ext uri="{FF2B5EF4-FFF2-40B4-BE49-F238E27FC236}">
                <a16:creationId xmlns:a16="http://schemas.microsoft.com/office/drawing/2014/main" id="{1C653653-D8FC-31A0-EEC1-E14D42BF9D5F}"/>
              </a:ext>
            </a:extLst>
          </p:cNvPr>
          <p:cNvSpPr txBox="1"/>
          <p:nvPr/>
        </p:nvSpPr>
        <p:spPr>
          <a:xfrm>
            <a:off x="2461260" y="5745480"/>
            <a:ext cx="6751320" cy="369332"/>
          </a:xfrm>
          <a:prstGeom prst="rect">
            <a:avLst/>
          </a:prstGeom>
          <a:noFill/>
        </p:spPr>
        <p:txBody>
          <a:bodyPr wrap="square" rtlCol="0">
            <a:spAutoFit/>
          </a:bodyPr>
          <a:lstStyle/>
          <a:p>
            <a:r>
              <a:rPr lang="en-IN" dirty="0"/>
              <a:t>Code snippets of Data Exploration and handling</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FF481B8-794A-E207-323E-992E04BA6EE4}"/>
              </a:ext>
            </a:extLst>
          </p:cNvPr>
          <p:cNvPicPr>
            <a:picLocks noChangeAspect="1"/>
          </p:cNvPicPr>
          <p:nvPr/>
        </p:nvPicPr>
        <p:blipFill>
          <a:blip r:embed="rId3"/>
          <a:stretch>
            <a:fillRect/>
          </a:stretch>
        </p:blipFill>
        <p:spPr>
          <a:xfrm>
            <a:off x="326151" y="1339399"/>
            <a:ext cx="5237163" cy="4179201"/>
          </a:xfrm>
          <a:prstGeom prst="rect">
            <a:avLst/>
          </a:prstGeom>
        </p:spPr>
      </p:pic>
      <p:pic>
        <p:nvPicPr>
          <p:cNvPr id="9" name="Picture 8">
            <a:extLst>
              <a:ext uri="{FF2B5EF4-FFF2-40B4-BE49-F238E27FC236}">
                <a16:creationId xmlns:a16="http://schemas.microsoft.com/office/drawing/2014/main" id="{05C99CDC-84FB-194B-014C-5749AB306C0B}"/>
              </a:ext>
            </a:extLst>
          </p:cNvPr>
          <p:cNvPicPr>
            <a:picLocks noChangeAspect="1"/>
          </p:cNvPicPr>
          <p:nvPr/>
        </p:nvPicPr>
        <p:blipFill>
          <a:blip r:embed="rId4"/>
          <a:stretch>
            <a:fillRect/>
          </a:stretch>
        </p:blipFill>
        <p:spPr>
          <a:xfrm>
            <a:off x="6044327" y="1403427"/>
            <a:ext cx="5340509" cy="3779848"/>
          </a:xfrm>
          <a:prstGeom prst="rect">
            <a:avLst/>
          </a:prstGeom>
        </p:spPr>
      </p:pic>
      <p:sp>
        <p:nvSpPr>
          <p:cNvPr id="11" name="TextBox 10">
            <a:extLst>
              <a:ext uri="{FF2B5EF4-FFF2-40B4-BE49-F238E27FC236}">
                <a16:creationId xmlns:a16="http://schemas.microsoft.com/office/drawing/2014/main" id="{A8D58466-A631-9D9E-72A2-5FDE48065591}"/>
              </a:ext>
            </a:extLst>
          </p:cNvPr>
          <p:cNvSpPr txBox="1"/>
          <p:nvPr/>
        </p:nvSpPr>
        <p:spPr>
          <a:xfrm>
            <a:off x="675957" y="5625928"/>
            <a:ext cx="4892596" cy="369332"/>
          </a:xfrm>
          <a:prstGeom prst="rect">
            <a:avLst/>
          </a:prstGeom>
          <a:noFill/>
        </p:spPr>
        <p:txBody>
          <a:bodyPr wrap="square" rtlCol="0">
            <a:spAutoFit/>
          </a:bodyPr>
          <a:lstStyle/>
          <a:p>
            <a:r>
              <a:rPr lang="en-IN" dirty="0"/>
              <a:t>Bar chart – Farm records by irrigation method</a:t>
            </a:r>
          </a:p>
        </p:txBody>
      </p:sp>
      <p:sp>
        <p:nvSpPr>
          <p:cNvPr id="13" name="TextBox 12">
            <a:extLst>
              <a:ext uri="{FF2B5EF4-FFF2-40B4-BE49-F238E27FC236}">
                <a16:creationId xmlns:a16="http://schemas.microsoft.com/office/drawing/2014/main" id="{D4592053-6BB6-4F0D-3247-5DAC5C36372C}"/>
              </a:ext>
            </a:extLst>
          </p:cNvPr>
          <p:cNvSpPr txBox="1"/>
          <p:nvPr/>
        </p:nvSpPr>
        <p:spPr>
          <a:xfrm>
            <a:off x="7689255" y="5625928"/>
            <a:ext cx="6103620" cy="369332"/>
          </a:xfrm>
          <a:prstGeom prst="rect">
            <a:avLst/>
          </a:prstGeom>
          <a:noFill/>
        </p:spPr>
        <p:txBody>
          <a:bodyPr wrap="square">
            <a:spAutoFit/>
          </a:bodyPr>
          <a:lstStyle/>
          <a:p>
            <a:r>
              <a:rPr lang="en-IN" sz="1800" dirty="0"/>
              <a:t>Box plot – </a:t>
            </a:r>
            <a:r>
              <a:rPr lang="en-IN" dirty="0"/>
              <a:t>Yield by crop</a:t>
            </a:r>
            <a:endParaRPr lang="en-IN" sz="1800"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9B1CE97-D3F0-C0BC-037B-4D9C4FC325FA}"/>
              </a:ext>
            </a:extLst>
          </p:cNvPr>
          <p:cNvPicPr>
            <a:picLocks noChangeAspect="1"/>
          </p:cNvPicPr>
          <p:nvPr/>
        </p:nvPicPr>
        <p:blipFill>
          <a:blip r:embed="rId3"/>
          <a:stretch>
            <a:fillRect/>
          </a:stretch>
        </p:blipFill>
        <p:spPr>
          <a:xfrm>
            <a:off x="418927" y="1201586"/>
            <a:ext cx="5265593" cy="4747671"/>
          </a:xfrm>
          <a:prstGeom prst="rect">
            <a:avLst/>
          </a:prstGeom>
        </p:spPr>
      </p:pic>
      <p:pic>
        <p:nvPicPr>
          <p:cNvPr id="9" name="Picture 8">
            <a:extLst>
              <a:ext uri="{FF2B5EF4-FFF2-40B4-BE49-F238E27FC236}">
                <a16:creationId xmlns:a16="http://schemas.microsoft.com/office/drawing/2014/main" id="{C46365DC-6B11-F2D2-6D60-E716CEEC28AD}"/>
              </a:ext>
            </a:extLst>
          </p:cNvPr>
          <p:cNvPicPr>
            <a:picLocks noChangeAspect="1"/>
          </p:cNvPicPr>
          <p:nvPr/>
        </p:nvPicPr>
        <p:blipFill>
          <a:blip r:embed="rId4"/>
          <a:stretch>
            <a:fillRect/>
          </a:stretch>
        </p:blipFill>
        <p:spPr>
          <a:xfrm>
            <a:off x="5991715" y="1431693"/>
            <a:ext cx="5393121" cy="4517563"/>
          </a:xfrm>
          <a:prstGeom prst="rect">
            <a:avLst/>
          </a:prstGeom>
        </p:spPr>
      </p:pic>
      <p:sp>
        <p:nvSpPr>
          <p:cNvPr id="12" name="TextBox 11">
            <a:extLst>
              <a:ext uri="{FF2B5EF4-FFF2-40B4-BE49-F238E27FC236}">
                <a16:creationId xmlns:a16="http://schemas.microsoft.com/office/drawing/2014/main" id="{C162E645-FDED-8034-00C5-304637208687}"/>
              </a:ext>
            </a:extLst>
          </p:cNvPr>
          <p:cNvSpPr txBox="1"/>
          <p:nvPr/>
        </p:nvSpPr>
        <p:spPr>
          <a:xfrm>
            <a:off x="1293884" y="6179364"/>
            <a:ext cx="3197093" cy="369332"/>
          </a:xfrm>
          <a:prstGeom prst="rect">
            <a:avLst/>
          </a:prstGeom>
          <a:noFill/>
        </p:spPr>
        <p:txBody>
          <a:bodyPr wrap="square">
            <a:spAutoFit/>
          </a:bodyPr>
          <a:lstStyle/>
          <a:p>
            <a:r>
              <a:rPr lang="en-IN" sz="1800" dirty="0"/>
              <a:t>Correlation Heatmap</a:t>
            </a:r>
          </a:p>
        </p:txBody>
      </p:sp>
      <p:sp>
        <p:nvSpPr>
          <p:cNvPr id="14" name="TextBox 13">
            <a:extLst>
              <a:ext uri="{FF2B5EF4-FFF2-40B4-BE49-F238E27FC236}">
                <a16:creationId xmlns:a16="http://schemas.microsoft.com/office/drawing/2014/main" id="{2523BC12-0837-ED86-2AEE-790B3F721CE6}"/>
              </a:ext>
            </a:extLst>
          </p:cNvPr>
          <p:cNvSpPr txBox="1"/>
          <p:nvPr/>
        </p:nvSpPr>
        <p:spPr>
          <a:xfrm>
            <a:off x="6351608" y="6179364"/>
            <a:ext cx="6105644" cy="369332"/>
          </a:xfrm>
          <a:prstGeom prst="rect">
            <a:avLst/>
          </a:prstGeom>
          <a:noFill/>
        </p:spPr>
        <p:txBody>
          <a:bodyPr wrap="square">
            <a:spAutoFit/>
          </a:bodyPr>
          <a:lstStyle/>
          <a:p>
            <a:r>
              <a:rPr lang="en-IN" dirty="0"/>
              <a:t>Scatter Plot</a:t>
            </a:r>
            <a:r>
              <a:rPr lang="en-IN" sz="1800" dirty="0"/>
              <a:t> – </a:t>
            </a:r>
            <a:r>
              <a:rPr lang="en-IN" dirty="0"/>
              <a:t>Pest risk vs profit by season</a:t>
            </a:r>
            <a:endParaRPr lang="en-IN" sz="18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10176AEA-795E-D1BC-A97D-1A212DF9D01E}"/>
              </a:ext>
            </a:extLst>
          </p:cNvPr>
          <p:cNvPicPr>
            <a:picLocks noChangeAspect="1"/>
          </p:cNvPicPr>
          <p:nvPr/>
        </p:nvPicPr>
        <p:blipFill>
          <a:blip r:embed="rId3"/>
          <a:stretch>
            <a:fillRect/>
          </a:stretch>
        </p:blipFill>
        <p:spPr>
          <a:xfrm>
            <a:off x="5430684" y="1076064"/>
            <a:ext cx="5879444" cy="4307258"/>
          </a:xfrm>
          <a:prstGeom prst="rect">
            <a:avLst/>
          </a:prstGeom>
        </p:spPr>
      </p:pic>
      <p:pic>
        <p:nvPicPr>
          <p:cNvPr id="9" name="Picture 8">
            <a:extLst>
              <a:ext uri="{FF2B5EF4-FFF2-40B4-BE49-F238E27FC236}">
                <a16:creationId xmlns:a16="http://schemas.microsoft.com/office/drawing/2014/main" id="{E719C536-F7EE-DBD2-79A7-424921C9F265}"/>
              </a:ext>
            </a:extLst>
          </p:cNvPr>
          <p:cNvPicPr>
            <a:picLocks noChangeAspect="1"/>
          </p:cNvPicPr>
          <p:nvPr/>
        </p:nvPicPr>
        <p:blipFill>
          <a:blip r:embed="rId4"/>
          <a:stretch>
            <a:fillRect/>
          </a:stretch>
        </p:blipFill>
        <p:spPr>
          <a:xfrm>
            <a:off x="527276" y="1201586"/>
            <a:ext cx="4806724" cy="4056214"/>
          </a:xfrm>
          <a:prstGeom prst="rect">
            <a:avLst/>
          </a:prstGeom>
        </p:spPr>
      </p:pic>
      <p:sp>
        <p:nvSpPr>
          <p:cNvPr id="12" name="TextBox 11">
            <a:extLst>
              <a:ext uri="{FF2B5EF4-FFF2-40B4-BE49-F238E27FC236}">
                <a16:creationId xmlns:a16="http://schemas.microsoft.com/office/drawing/2014/main" id="{C2D181AE-565A-7033-4A0E-6FCDC1A61211}"/>
              </a:ext>
            </a:extLst>
          </p:cNvPr>
          <p:cNvSpPr txBox="1"/>
          <p:nvPr/>
        </p:nvSpPr>
        <p:spPr>
          <a:xfrm>
            <a:off x="527276" y="5553336"/>
            <a:ext cx="6103620" cy="369332"/>
          </a:xfrm>
          <a:prstGeom prst="rect">
            <a:avLst/>
          </a:prstGeom>
          <a:noFill/>
        </p:spPr>
        <p:txBody>
          <a:bodyPr wrap="square">
            <a:spAutoFit/>
          </a:bodyPr>
          <a:lstStyle/>
          <a:p>
            <a:r>
              <a:rPr lang="en-IN" dirty="0"/>
              <a:t>Pie chart – Distribution of farms across seasons</a:t>
            </a:r>
            <a:endParaRPr lang="en-IN" sz="1800" dirty="0"/>
          </a:p>
        </p:txBody>
      </p:sp>
      <p:sp>
        <p:nvSpPr>
          <p:cNvPr id="14" name="TextBox 13">
            <a:extLst>
              <a:ext uri="{FF2B5EF4-FFF2-40B4-BE49-F238E27FC236}">
                <a16:creationId xmlns:a16="http://schemas.microsoft.com/office/drawing/2014/main" id="{FD8DC118-DD6A-E36D-9FF3-91AAE5AD916F}"/>
              </a:ext>
            </a:extLst>
          </p:cNvPr>
          <p:cNvSpPr txBox="1"/>
          <p:nvPr/>
        </p:nvSpPr>
        <p:spPr>
          <a:xfrm>
            <a:off x="6450330" y="5672589"/>
            <a:ext cx="6103620" cy="369332"/>
          </a:xfrm>
          <a:prstGeom prst="rect">
            <a:avLst/>
          </a:prstGeom>
          <a:noFill/>
        </p:spPr>
        <p:txBody>
          <a:bodyPr wrap="square">
            <a:spAutoFit/>
          </a:bodyPr>
          <a:lstStyle/>
          <a:p>
            <a:r>
              <a:rPr lang="en-IN" dirty="0"/>
              <a:t>Heatmap – Average Yield Season into crop</a:t>
            </a:r>
            <a:endParaRPr lang="en-IN" sz="1800"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2CAE23F-2B4D-E043-3603-7682E695F246}"/>
              </a:ext>
            </a:extLst>
          </p:cNvPr>
          <p:cNvPicPr>
            <a:picLocks noChangeAspect="1"/>
          </p:cNvPicPr>
          <p:nvPr/>
        </p:nvPicPr>
        <p:blipFill>
          <a:blip r:embed="rId3"/>
          <a:stretch>
            <a:fillRect/>
          </a:stretch>
        </p:blipFill>
        <p:spPr>
          <a:xfrm>
            <a:off x="94275" y="1275371"/>
            <a:ext cx="5334915" cy="4456686"/>
          </a:xfrm>
          <a:prstGeom prst="rect">
            <a:avLst/>
          </a:prstGeom>
        </p:spPr>
      </p:pic>
      <p:pic>
        <p:nvPicPr>
          <p:cNvPr id="9" name="Picture 8">
            <a:extLst>
              <a:ext uri="{FF2B5EF4-FFF2-40B4-BE49-F238E27FC236}">
                <a16:creationId xmlns:a16="http://schemas.microsoft.com/office/drawing/2014/main" id="{C9C5E94E-1BF1-B21C-639B-7C5E9D7BCAF2}"/>
              </a:ext>
            </a:extLst>
          </p:cNvPr>
          <p:cNvPicPr>
            <a:picLocks noChangeAspect="1"/>
          </p:cNvPicPr>
          <p:nvPr/>
        </p:nvPicPr>
        <p:blipFill>
          <a:blip r:embed="rId4"/>
          <a:stretch>
            <a:fillRect/>
          </a:stretch>
        </p:blipFill>
        <p:spPr>
          <a:xfrm>
            <a:off x="5611879" y="1431694"/>
            <a:ext cx="5517054" cy="4051066"/>
          </a:xfrm>
          <a:prstGeom prst="rect">
            <a:avLst/>
          </a:prstGeom>
        </p:spPr>
      </p:pic>
      <p:sp>
        <p:nvSpPr>
          <p:cNvPr id="12" name="TextBox 11">
            <a:extLst>
              <a:ext uri="{FF2B5EF4-FFF2-40B4-BE49-F238E27FC236}">
                <a16:creationId xmlns:a16="http://schemas.microsoft.com/office/drawing/2014/main" id="{AA7AA609-BAFA-201D-7EBF-E75F57258C5F}"/>
              </a:ext>
            </a:extLst>
          </p:cNvPr>
          <p:cNvSpPr txBox="1"/>
          <p:nvPr/>
        </p:nvSpPr>
        <p:spPr>
          <a:xfrm>
            <a:off x="807164" y="5917322"/>
            <a:ext cx="6103620" cy="369332"/>
          </a:xfrm>
          <a:prstGeom prst="rect">
            <a:avLst/>
          </a:prstGeom>
          <a:noFill/>
        </p:spPr>
        <p:txBody>
          <a:bodyPr wrap="square">
            <a:spAutoFit/>
          </a:bodyPr>
          <a:lstStyle/>
          <a:p>
            <a:r>
              <a:rPr lang="en-IN" sz="1800" dirty="0"/>
              <a:t>Histogram – Revenue distribution</a:t>
            </a:r>
          </a:p>
        </p:txBody>
      </p:sp>
      <p:sp>
        <p:nvSpPr>
          <p:cNvPr id="14" name="TextBox 13">
            <a:extLst>
              <a:ext uri="{FF2B5EF4-FFF2-40B4-BE49-F238E27FC236}">
                <a16:creationId xmlns:a16="http://schemas.microsoft.com/office/drawing/2014/main" id="{B16002CC-9C86-EC3C-7693-9010A0E352F7}"/>
              </a:ext>
            </a:extLst>
          </p:cNvPr>
          <p:cNvSpPr txBox="1"/>
          <p:nvPr/>
        </p:nvSpPr>
        <p:spPr>
          <a:xfrm>
            <a:off x="6297930" y="5917322"/>
            <a:ext cx="6103620" cy="369332"/>
          </a:xfrm>
          <a:prstGeom prst="rect">
            <a:avLst/>
          </a:prstGeom>
          <a:noFill/>
        </p:spPr>
        <p:txBody>
          <a:bodyPr wrap="square">
            <a:spAutoFit/>
          </a:bodyPr>
          <a:lstStyle/>
          <a:p>
            <a:r>
              <a:rPr lang="en-IN" sz="1800" dirty="0"/>
              <a:t>Bar chart – Average water efficiency by season</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2ED7-9A68-FB10-861D-86C13BFD35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043745-5D2C-2632-226C-CF7F1721A3C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6DD7ED0-86DB-0CBD-F3EC-456B7AC3B1B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EA9A206-FE24-B9E4-BD72-218A71F60C7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99B9C1-7B37-6441-0E27-75B7FE789C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C59C4BE-2F83-2A97-7966-B6537833AFC7}"/>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52CE7914-0732-55C4-3BE6-C63268E8AE1F}"/>
              </a:ext>
            </a:extLst>
          </p:cNvPr>
          <p:cNvPicPr>
            <a:picLocks noChangeAspect="1"/>
          </p:cNvPicPr>
          <p:nvPr/>
        </p:nvPicPr>
        <p:blipFill>
          <a:blip r:embed="rId3"/>
          <a:stretch>
            <a:fillRect/>
          </a:stretch>
        </p:blipFill>
        <p:spPr>
          <a:xfrm>
            <a:off x="121348" y="1375241"/>
            <a:ext cx="5974652" cy="3852079"/>
          </a:xfrm>
          <a:prstGeom prst="rect">
            <a:avLst/>
          </a:prstGeom>
        </p:spPr>
      </p:pic>
      <p:pic>
        <p:nvPicPr>
          <p:cNvPr id="12" name="Picture 11">
            <a:extLst>
              <a:ext uri="{FF2B5EF4-FFF2-40B4-BE49-F238E27FC236}">
                <a16:creationId xmlns:a16="http://schemas.microsoft.com/office/drawing/2014/main" id="{CAC3CB7B-F6B7-CBB0-E30A-6ED6B198D661}"/>
              </a:ext>
            </a:extLst>
          </p:cNvPr>
          <p:cNvPicPr>
            <a:picLocks noChangeAspect="1"/>
          </p:cNvPicPr>
          <p:nvPr/>
        </p:nvPicPr>
        <p:blipFill>
          <a:blip r:embed="rId4"/>
          <a:stretch>
            <a:fillRect/>
          </a:stretch>
        </p:blipFill>
        <p:spPr>
          <a:xfrm>
            <a:off x="6264011" y="1431694"/>
            <a:ext cx="4814361" cy="3612746"/>
          </a:xfrm>
          <a:prstGeom prst="rect">
            <a:avLst/>
          </a:prstGeom>
        </p:spPr>
      </p:pic>
      <p:sp>
        <p:nvSpPr>
          <p:cNvPr id="14" name="TextBox 13">
            <a:extLst>
              <a:ext uri="{FF2B5EF4-FFF2-40B4-BE49-F238E27FC236}">
                <a16:creationId xmlns:a16="http://schemas.microsoft.com/office/drawing/2014/main" id="{50EE8A41-FECD-4201-BA0C-4F1C14722604}"/>
              </a:ext>
            </a:extLst>
          </p:cNvPr>
          <p:cNvSpPr txBox="1"/>
          <p:nvPr/>
        </p:nvSpPr>
        <p:spPr>
          <a:xfrm>
            <a:off x="807164" y="5482759"/>
            <a:ext cx="6103620" cy="369332"/>
          </a:xfrm>
          <a:prstGeom prst="rect">
            <a:avLst/>
          </a:prstGeom>
          <a:noFill/>
        </p:spPr>
        <p:txBody>
          <a:bodyPr wrap="square">
            <a:spAutoFit/>
          </a:bodyPr>
          <a:lstStyle/>
          <a:p>
            <a:r>
              <a:rPr lang="en-IN" sz="1800" dirty="0"/>
              <a:t>Horizontal Bar chart – Farm records by </a:t>
            </a:r>
            <a:r>
              <a:rPr lang="en-IN" dirty="0"/>
              <a:t>State</a:t>
            </a:r>
            <a:endParaRPr lang="en-IN" sz="1800" dirty="0"/>
          </a:p>
        </p:txBody>
      </p:sp>
      <p:sp>
        <p:nvSpPr>
          <p:cNvPr id="15" name="TextBox 14">
            <a:extLst>
              <a:ext uri="{FF2B5EF4-FFF2-40B4-BE49-F238E27FC236}">
                <a16:creationId xmlns:a16="http://schemas.microsoft.com/office/drawing/2014/main" id="{6CC640F5-6FB7-A369-0EFB-0516E34359C5}"/>
              </a:ext>
            </a:extLst>
          </p:cNvPr>
          <p:cNvSpPr txBox="1"/>
          <p:nvPr/>
        </p:nvSpPr>
        <p:spPr>
          <a:xfrm>
            <a:off x="7513320" y="5426306"/>
            <a:ext cx="2892523" cy="646331"/>
          </a:xfrm>
          <a:prstGeom prst="rect">
            <a:avLst/>
          </a:prstGeom>
          <a:noFill/>
        </p:spPr>
        <p:txBody>
          <a:bodyPr wrap="none" rtlCol="0">
            <a:spAutoFit/>
          </a:bodyPr>
          <a:lstStyle/>
          <a:p>
            <a:r>
              <a:rPr lang="en-IN" dirty="0"/>
              <a:t>Box plot – Profit by season</a:t>
            </a:r>
          </a:p>
          <a:p>
            <a:endParaRPr lang="en-IN" dirty="0"/>
          </a:p>
        </p:txBody>
      </p:sp>
    </p:spTree>
    <p:extLst>
      <p:ext uri="{BB962C8B-B14F-4D97-AF65-F5344CB8AC3E}">
        <p14:creationId xmlns:p14="http://schemas.microsoft.com/office/powerpoint/2010/main" val="428027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D094982D-CC47-7325-085F-DC649ABA41B9}"/>
              </a:ext>
            </a:extLst>
          </p:cNvPr>
          <p:cNvSpPr txBox="1"/>
          <p:nvPr/>
        </p:nvSpPr>
        <p:spPr>
          <a:xfrm>
            <a:off x="675957" y="1493521"/>
            <a:ext cx="8479473" cy="3970318"/>
          </a:xfrm>
          <a:prstGeom prst="rect">
            <a:avLst/>
          </a:prstGeom>
          <a:noFill/>
        </p:spPr>
        <p:txBody>
          <a:bodyPr wrap="square">
            <a:spAutoFit/>
          </a:bodyPr>
          <a:lstStyle/>
          <a:p>
            <a:pPr marL="342900" lvl="0" indent="-342900">
              <a:buFont typeface="Arial" panose="020B0604020202020204" pitchFamily="34" charset="0"/>
              <a:buChar char="•"/>
            </a:pPr>
            <a:r>
              <a:rPr lang="en-IN" sz="2800" dirty="0"/>
              <a:t>Crop production prediction </a:t>
            </a:r>
          </a:p>
          <a:p>
            <a:pPr marL="342900" lvl="0" indent="-342900">
              <a:buFont typeface="Arial" panose="020B0604020202020204" pitchFamily="34" charset="0"/>
              <a:buChar char="•"/>
            </a:pPr>
            <a:r>
              <a:rPr lang="en-IN" sz="2800" dirty="0"/>
              <a:t>Real-time weather data integration </a:t>
            </a:r>
          </a:p>
          <a:p>
            <a:pPr marL="342900" lvl="0" indent="-342900">
              <a:buFont typeface="Arial" panose="020B0604020202020204" pitchFamily="34" charset="0"/>
              <a:buChar char="•"/>
            </a:pPr>
            <a:r>
              <a:rPr lang="en-IN" sz="2800" dirty="0"/>
              <a:t>Interactive agricultural dashboard </a:t>
            </a:r>
          </a:p>
          <a:p>
            <a:pPr marL="342900" lvl="0" indent="-342900">
              <a:buFont typeface="Arial" panose="020B0604020202020204" pitchFamily="34" charset="0"/>
              <a:buChar char="•"/>
            </a:pPr>
            <a:r>
              <a:rPr lang="en-IN" sz="2800" dirty="0"/>
              <a:t>Machine learning-based analysis </a:t>
            </a:r>
          </a:p>
          <a:p>
            <a:pPr marL="342900" lvl="0" indent="-342900">
              <a:buFont typeface="Arial" panose="020B0604020202020204" pitchFamily="34" charset="0"/>
              <a:buChar char="•"/>
            </a:pPr>
            <a:r>
              <a:rPr lang="en-IN" sz="2800" dirty="0"/>
              <a:t>Analysis of more crops and regions </a:t>
            </a:r>
          </a:p>
          <a:p>
            <a:pPr marL="342900" lvl="0" indent="-342900">
              <a:buFont typeface="Arial" panose="020B0604020202020204" pitchFamily="34" charset="0"/>
              <a:buChar char="•"/>
            </a:pPr>
            <a:r>
              <a:rPr lang="en-IN" sz="2800" dirty="0"/>
              <a:t>Resource optimization </a:t>
            </a:r>
          </a:p>
          <a:p>
            <a:pPr marL="342900" lvl="0" indent="-342900">
              <a:buFont typeface="Arial" panose="020B0604020202020204" pitchFamily="34" charset="0"/>
              <a:buChar char="•"/>
            </a:pPr>
            <a:r>
              <a:rPr lang="en-IN" sz="2800" dirty="0"/>
              <a:t>Market price prediction </a:t>
            </a:r>
          </a:p>
          <a:p>
            <a:pPr marL="342900" lvl="0" indent="-342900">
              <a:buFont typeface="Arial" panose="020B0604020202020204" pitchFamily="34" charset="0"/>
              <a:buChar char="•"/>
            </a:pPr>
            <a:r>
              <a:rPr lang="en-IN" sz="2800" dirty="0"/>
              <a:t>Seasonal farming recommendations </a:t>
            </a:r>
          </a:p>
          <a:p>
            <a:pPr marL="342900" lvl="0" indent="-342900">
              <a:buFont typeface="Arial" panose="020B0604020202020204" pitchFamily="34" charset="0"/>
              <a:buChar char="•"/>
            </a:pPr>
            <a:r>
              <a:rPr lang="en-IN" sz="2800" dirty="0"/>
              <a:t>Early identification of unusual patterns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4D60BFC-7641-F7C0-635C-91EF5B3AC51E}"/>
              </a:ext>
            </a:extLst>
          </p:cNvPr>
          <p:cNvSpPr txBox="1"/>
          <p:nvPr/>
        </p:nvSpPr>
        <p:spPr>
          <a:xfrm>
            <a:off x="816895" y="2406191"/>
            <a:ext cx="9189720" cy="1200329"/>
          </a:xfrm>
          <a:prstGeom prst="rect">
            <a:avLst/>
          </a:prstGeom>
          <a:noFill/>
        </p:spPr>
        <p:txBody>
          <a:bodyPr wrap="square">
            <a:spAutoFit/>
          </a:bodyPr>
          <a:lstStyle/>
          <a:p>
            <a:r>
              <a:rPr lang="en-IN" sz="3600" b="1" dirty="0">
                <a:hlinkClick r:id="rId3">
                  <a:extLst>
                    <a:ext uri="{A12FA001-AC4F-418D-AE19-62706E023703}">
                      <ahyp:hlinkClr xmlns:ahyp="http://schemas.microsoft.com/office/drawing/2018/hyperlinkcolor" val="tx"/>
                    </a:ext>
                  </a:extLst>
                </a:hlinkClick>
              </a:rPr>
              <a:t>https://github.com/Sushiii3103/Seasonal-Agriculture-Performance-Analysis.git</a:t>
            </a:r>
            <a:endParaRPr lang="en-IN" sz="3600"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05E9DE9-14BE-385A-648E-0AB5A7B7E1AA}"/>
              </a:ext>
            </a:extLst>
          </p:cNvPr>
          <p:cNvPicPr>
            <a:picLocks noChangeAspect="1"/>
          </p:cNvPicPr>
          <p:nvPr/>
        </p:nvPicPr>
        <p:blipFill>
          <a:blip r:embed="rId3"/>
          <a:stretch>
            <a:fillRect/>
          </a:stretch>
        </p:blipFill>
        <p:spPr>
          <a:xfrm>
            <a:off x="975360" y="1358707"/>
            <a:ext cx="8839200" cy="512870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1" y="2912401"/>
            <a:ext cx="11340000" cy="700114"/>
          </a:xfrm>
          <a:prstGeom prst="rect">
            <a:avLst/>
          </a:prstGeom>
        </p:spPr>
        <p:txBody>
          <a:bodyPr anchor="ctr">
            <a:noAutofit/>
          </a:bodyPr>
          <a:lstStyle/>
          <a:p>
            <a:pPr algn="ctr"/>
            <a:r>
              <a:rPr lang="en-US" sz="6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714</TotalTime>
  <Words>502</Words>
  <Application>Microsoft Office PowerPoint</Application>
  <PresentationFormat>Widescreen</PresentationFormat>
  <Paragraphs>54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AISHWARYADEVI M</cp:lastModifiedBy>
  <cp:revision>106</cp:revision>
  <dcterms:created xsi:type="dcterms:W3CDTF">2021-07-11T13:13:15Z</dcterms:created>
  <dcterms:modified xsi:type="dcterms:W3CDTF">2026-09-03T19:20:20Z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